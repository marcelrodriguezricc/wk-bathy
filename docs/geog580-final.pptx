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 SemiBold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4">
          <p15:clr>
            <a:srgbClr val="747775"/>
          </p15:clr>
        </p15:guide>
        <p15:guide id="2" orient="horz" pos="3096">
          <p15:clr>
            <a:srgbClr val="747775"/>
          </p15:clr>
        </p15:guide>
        <p15:guide id="3" pos="144">
          <p15:clr>
            <a:srgbClr val="747775"/>
          </p15:clr>
        </p15:guide>
        <p15:guide id="4" pos="5616">
          <p15:clr>
            <a:srgbClr val="747775"/>
          </p15:clr>
        </p15:guide>
        <p15:guide id="5" pos="2880">
          <p15:clr>
            <a:srgbClr val="747775"/>
          </p15:clr>
        </p15:guide>
        <p15:guide id="6" pos="2952">
          <p15:clr>
            <a:srgbClr val="747775"/>
          </p15:clr>
        </p15:guide>
        <p15:guide id="7" pos="2808">
          <p15:clr>
            <a:srgbClr val="747775"/>
          </p15:clr>
        </p15:guide>
        <p15:guide id="8" orient="horz" pos="576">
          <p15:clr>
            <a:srgbClr val="747775"/>
          </p15:clr>
        </p15:guide>
        <p15:guide id="9" orient="horz" pos="651">
          <p15:clr>
            <a:srgbClr val="747775"/>
          </p15:clr>
        </p15:guide>
        <p15:guide id="10" orient="horz" pos="720">
          <p15:clr>
            <a:srgbClr val="747775"/>
          </p15:clr>
        </p15:guide>
        <p15:guide id="11" orient="horz" pos="115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" orient="horz"/>
        <p:guide pos="3096" orient="horz"/>
        <p:guide pos="144"/>
        <p:guide pos="5616"/>
        <p:guide pos="2880"/>
        <p:guide pos="2952"/>
        <p:guide pos="2808"/>
        <p:guide pos="576" orient="horz"/>
        <p:guide pos="651" orient="horz"/>
        <p:guide pos="720" orient="horz"/>
        <p:guide pos="115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SemiBold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446a94b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446a94b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446a94b4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446a94b4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46a94b4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446a94b4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446a94b4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446a94b4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446a94b4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446a94b4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446a94b4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446a94b4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446a94b4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446a94b4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446a94b4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446a94b4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446a94b4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446a94b4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446a94b46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446a94b46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arcelrodriguezricc/wkb-evaluation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06883" y="118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 quantitative evaluation of Optical vs. SAR-based Wave Kinematic Bathymetry</a:t>
            </a:r>
            <a:endParaRPr b="1" sz="40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06875" y="2795225"/>
            <a:ext cx="4402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algorithm 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 deriving nearshore depth in the surf-zone from satellite imagery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69200" y="4610175"/>
            <a:ext cx="4402800" cy="4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By Marcel Rodriguez-Riccelli</a:t>
            </a:r>
            <a:endParaRPr i="1" sz="9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" name="Google Shape;57;p13" title="github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0175" y="4555625"/>
            <a:ext cx="1412826" cy="5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osu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8225" y="4392974"/>
            <a:ext cx="1975475" cy="6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flipH="1" rot="10800000">
            <a:off x="217200" y="1835100"/>
            <a:ext cx="42405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FEFEF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17200" y="1176825"/>
            <a:ext cx="42405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28600" y="1297875"/>
            <a:ext cx="4222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CONDITIONS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4545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Publicly accessible hydrographic shallow water survey data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Swell-wave regime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Negligible effects from currents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 extended nearshore region of depths below 100 m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/>
          <p:nvPr/>
        </p:nvSpPr>
        <p:spPr>
          <a:xfrm flipH="1" rot="10800000">
            <a:off x="4692475" y="1867100"/>
            <a:ext cx="4222800" cy="304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FEFEF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4692600" y="1176825"/>
            <a:ext cx="42228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482960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Latitude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Turbidity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Exposure to marine processes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Depositional / Erosional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Seafloor features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Reef, sandbar, canyon…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4692600" y="1297875"/>
            <a:ext cx="4222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VARIATION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1: DETERMINE FOUR AREAS OF INTEREST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 flipH="1" rot="10800000">
            <a:off x="217200" y="1835100"/>
            <a:ext cx="86934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217200" y="1176825"/>
            <a:ext cx="86982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2351100" y="1309575"/>
            <a:ext cx="4670400" cy="4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1. </a:t>
            </a: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NORTH SHORE OF O’AHU, HAWAII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0" name="Google Shape;80;p15"/>
          <p:cNvSpPr txBox="1"/>
          <p:nvPr>
            <p:ph idx="1" type="subTitle"/>
          </p:nvPr>
        </p:nvSpPr>
        <p:spPr>
          <a:xfrm>
            <a:off x="3847450" y="1996113"/>
            <a:ext cx="49398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21°40'19"N 158°03'42"W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Flat tabletop reef, lava spires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Highly energetic, erosional, especially in winter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Highly sloped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Low turbidity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1: DETERMINE FOUR AREAS OF INTEREST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3" name="Google Shape;83;p15" title="ehukai_cr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51" y="1939588"/>
            <a:ext cx="3014888" cy="2902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 flipH="1" rot="10800000">
            <a:off x="217200" y="1835100"/>
            <a:ext cx="86934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217200" y="1176825"/>
            <a:ext cx="86982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2454900" y="1297875"/>
            <a:ext cx="4222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2. GOLDEN GATE, CALIFORNIA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1" name="Google Shape;91;p16"/>
          <p:cNvSpPr txBox="1"/>
          <p:nvPr>
            <p:ph idx="1" type="subTitle"/>
          </p:nvPr>
        </p:nvSpPr>
        <p:spPr>
          <a:xfrm>
            <a:off x="3847450" y="1996113"/>
            <a:ext cx="49398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37°47'35"N 122°33'19"W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Bay mouth formed by tectonic subsidence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Highly energetic, erosional, especially in winter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High turbidity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1: DETERMINE FOUR AREAS OF INTEREST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4" name="Google Shape;94;p16" title="gg_cr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50" y="1923625"/>
            <a:ext cx="3014898" cy="290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 flipH="1" rot="10800000">
            <a:off x="217200" y="1835100"/>
            <a:ext cx="86934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217200" y="1176825"/>
            <a:ext cx="86982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2285550" y="1297875"/>
            <a:ext cx="45729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. DIAMOND SHOALS, NORTH CAROLINA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3847450" y="1996113"/>
            <a:ext cx="49398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35°12'15"N 75°29'40"W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Shifting sandbars that extend 8 miles from shore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Broad continental shelf / slightly sloped relief, depositional coast, lower energy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High turbidity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1: DETERMINE FOUR AREAS OF INTEREST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5" name="Google Shape;105;p17" title="dshoals_cr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50" y="1923625"/>
            <a:ext cx="3014898" cy="290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 rot="10800000">
            <a:off x="217200" y="1835100"/>
            <a:ext cx="86934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217200" y="1176825"/>
            <a:ext cx="86982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2285550" y="1297875"/>
            <a:ext cx="45729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3. PUNTA JACINTO, PUERTO RICO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3847450" y="1996113"/>
            <a:ext cx="49398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18°32'16"N 67°04'23"W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Highly sloped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Moderately energetic in winter, and subject to episodic extreme hurricane events late summer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Mona Canyon just offshore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Low turbidity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1: DETERMINE FOUR AREAS OF INTEREST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6" name="Google Shape;116;p18" title="pj_cr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50" y="1923625"/>
            <a:ext cx="3014898" cy="290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 flipH="1" rot="10800000">
            <a:off x="217200" y="1835100"/>
            <a:ext cx="42405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FEFEF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217200" y="1176825"/>
            <a:ext cx="42405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228600" y="1297875"/>
            <a:ext cx="4222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MINIMUM </a:t>
            </a:r>
            <a:r>
              <a:rPr b="1" lang="en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CONDITIONS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34545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 be able to perform Wave Kinematics Bathymetry to derive nearshore depth: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Mean significant wave height must be over 1m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Average of the highest one-third (33%) of waves (measured from trough to crest)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5" name="Google Shape;125;p19"/>
          <p:cNvSpPr/>
          <p:nvPr/>
        </p:nvSpPr>
        <p:spPr>
          <a:xfrm flipH="1" rot="10800000">
            <a:off x="4692475" y="1867100"/>
            <a:ext cx="4222800" cy="304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FEFEF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4692600" y="1176825"/>
            <a:ext cx="42228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482960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Additional information of swell should be recorded to inform evaluation: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Period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Mono"/>
              <a:buChar char="-"/>
            </a:pPr>
            <a:r>
              <a:rPr i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Direction</a:t>
            </a:r>
            <a:endParaRPr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8" name="Google Shape;128;p19"/>
          <p:cNvSpPr txBox="1"/>
          <p:nvPr>
            <p:ph idx="1" type="subTitle"/>
          </p:nvPr>
        </p:nvSpPr>
        <p:spPr>
          <a:xfrm>
            <a:off x="4692600" y="1297875"/>
            <a:ext cx="4222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 EVALUATION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2: DETERMINE VIABLE TIMES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 flipH="1" rot="10800000">
            <a:off x="217200" y="1835100"/>
            <a:ext cx="42405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6666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217200" y="1176825"/>
            <a:ext cx="42405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28600" y="1297875"/>
            <a:ext cx="4222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A. ESTABLISH </a:t>
            </a: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AOI CLASS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8" name="Google Shape;138;p20"/>
          <p:cNvSpPr txBox="1"/>
          <p:nvPr>
            <p:ph idx="1" type="subTitle"/>
          </p:nvPr>
        </p:nvSpPr>
        <p:spPr>
          <a:xfrm>
            <a:off x="358650" y="199610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AOI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endParaRPr b="1" sz="850">
              <a:solidFill>
                <a:srgbClr val="4EC9B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filename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endParaRPr b="1" sz="850">
              <a:solidFill>
                <a:srgbClr val="4EC9B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endParaRPr b="1" sz="850">
              <a:solidFill>
                <a:srgbClr val="4EC9B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lon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endParaRPr b="1" sz="850">
              <a:solidFill>
                <a:srgbClr val="4EC9B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crm_link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endParaRPr b="1" sz="850">
              <a:solidFill>
                <a:srgbClr val="4EC9B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crm_local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"null"</a:t>
            </a:r>
            <a:endParaRPr b="1" sz="850">
              <a:solidFill>
                <a:srgbClr val="CE917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crm_date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"null"</a:t>
            </a:r>
            <a:endParaRPr b="1" sz="850">
              <a:solidFill>
                <a:srgbClr val="CE917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0.25</a:t>
            </a:r>
            <a:endParaRPr b="1" sz="850">
              <a:solidFill>
                <a:srgbClr val="B5CEA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bbox_lon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0.25</a:t>
            </a:r>
            <a:endParaRPr b="1" sz="850">
              <a:solidFill>
                <a:srgbClr val="B5CEA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9" name="Google Shape;139;p20"/>
          <p:cNvSpPr/>
          <p:nvPr/>
        </p:nvSpPr>
        <p:spPr>
          <a:xfrm flipH="1" rot="10800000">
            <a:off x="4692475" y="1867100"/>
            <a:ext cx="4222800" cy="304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6666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4692600" y="1176825"/>
            <a:ext cx="42228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41" name="Google Shape;141;p20"/>
          <p:cNvSpPr txBox="1"/>
          <p:nvPr>
            <p:ph idx="1" type="subTitle"/>
          </p:nvPr>
        </p:nvSpPr>
        <p:spPr>
          <a:xfrm>
            <a:off x="482960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ehukai_lat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dms_to_decimal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degrees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21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minutes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40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seconds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direction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"N"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" sz="90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# 21°40'19"N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ehukai_lon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dms_to_decimal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degrees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158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minutes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seconds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42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direction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"W"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en" sz="90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# 158°03'42"W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aoi_1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AOI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"North Shore, Oahu, Hawaii"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filename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"ehukai"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lat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ehukai_lat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lon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ehukai_lon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bbox_lat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0.05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bbox_lon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0.05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crm_link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"https://www.ngdc.noaa.gov/thredds/dodsC/crm/cudem/crm_vol10_2023.nc"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4692600" y="1297875"/>
            <a:ext cx="4222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B. INITIALIZE EACH AOI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2: LOAD DATA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 flipH="1" rot="10800000">
            <a:off x="217200" y="1835100"/>
            <a:ext cx="42405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6666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217200" y="1176825"/>
            <a:ext cx="42405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 txBox="1"/>
          <p:nvPr>
            <p:ph idx="1" type="subTitle"/>
          </p:nvPr>
        </p:nvSpPr>
        <p:spPr>
          <a:xfrm>
            <a:off x="226050" y="1164825"/>
            <a:ext cx="42228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C. DOWNLOAD CRM FOR EACH AOI, STORE METADATA IN AOI OBJECT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21"/>
          <p:cNvSpPr txBox="1"/>
          <p:nvPr>
            <p:ph idx="1" type="subTitle"/>
          </p:nvPr>
        </p:nvSpPr>
        <p:spPr>
          <a:xfrm>
            <a:off x="35865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aoi_list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local_nc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download_crm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crm_link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out_dir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"data/crm"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crm_local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local_nc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ds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xr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open_dataset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local_nc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ts_val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ds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attrs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"GDAL_TIFFTAG_DATETIME"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ts_val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is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FC1FF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ts_str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ts_val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date_time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dt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strptime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ts_str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"%Y%m</a:t>
            </a:r>
            <a:r>
              <a:rPr b="1" lang="en" sz="85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%d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%H%M%S"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crm_date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date_time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date_str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ds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.GDAL.split(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"released"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)[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1" lang="en" sz="85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].strip().replace(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"/"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"-"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crm_date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date_str</a:t>
            </a:r>
            <a:endParaRPr b="1" i="1" sz="8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3" name="Google Shape;153;p21"/>
          <p:cNvSpPr/>
          <p:nvPr/>
        </p:nvSpPr>
        <p:spPr>
          <a:xfrm flipH="1" rot="10800000">
            <a:off x="4692475" y="1867100"/>
            <a:ext cx="4222800" cy="304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6666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4692600" y="1176825"/>
            <a:ext cx="42228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482960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8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offset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iterate_offset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max_days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85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center_date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timedelta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days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offset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)).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b="1" sz="85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start_datetime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combine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end_datetime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combine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85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8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subset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dataset_id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ds_name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variables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b="1" lang="en" sz="85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"VHM0"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],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minimum_longitude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lon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bbox_lon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maximum_longitude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lon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bbox_lon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minimum_latitude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maximum_latitude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lat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bbox_lat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start_datetime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start_datetime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end_datetime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end_datetime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output_filename</a:t>
            </a:r>
            <a:r>
              <a:rPr b="1" lang="en" sz="8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85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outpath_d</a:t>
            </a: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)</a:t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4692600" y="1168900"/>
            <a:ext cx="4222800" cy="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D. DOWNLOAD WAVE MODEL DATA FOR</a:t>
            </a:r>
            <a:endParaRPr b="1" sz="17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SEVERAL DAYS AROUND CRM DATE 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2: LOAD DATA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 flipH="1" rot="10800000">
            <a:off x="217200" y="1835100"/>
            <a:ext cx="42405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6666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217200" y="1176825"/>
            <a:ext cx="42405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>
            <p:ph idx="1" type="subTitle"/>
          </p:nvPr>
        </p:nvSpPr>
        <p:spPr>
          <a:xfrm>
            <a:off x="226050" y="1164825"/>
            <a:ext cx="42228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E. COMPILE &amp; STORE LIST OF DATES/TIMES WHEN SWH &gt; 1M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6" name="Google Shape;166;p22"/>
          <p:cNvSpPr/>
          <p:nvPr/>
        </p:nvSpPr>
        <p:spPr>
          <a:xfrm flipH="1" rot="10800000">
            <a:off x="4692475" y="1867100"/>
            <a:ext cx="4222800" cy="3047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6666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4692600" y="1176825"/>
            <a:ext cx="42228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</a:t>
            </a: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: LOAD DATA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0" name="Google Shape;170;p22"/>
          <p:cNvSpPr txBox="1"/>
          <p:nvPr>
            <p:ph idx="1" type="subTitle"/>
          </p:nvPr>
        </p:nvSpPr>
        <p:spPr>
          <a:xfrm>
            <a:off x="358650" y="1980150"/>
            <a:ext cx="3957600" cy="27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90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offset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iterate_offset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num_days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center_date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timedelta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days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offset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)).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dir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" sz="90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header</a:t>
            </a:r>
            <a:r>
              <a:rPr b="1" lang="en" sz="90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_wave_</a:t>
            </a:r>
            <a:r>
              <a:rPr b="1" lang="en" sz="90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n" sz="90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.nc"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4EC9B0"/>
                </a:solidFill>
                <a:latin typeface="Roboto Mono"/>
                <a:ea typeface="Roboto Mono"/>
                <a:cs typeface="Roboto Mono"/>
                <a:sym typeface="Roboto Mono"/>
              </a:rPr>
              <a:t>xr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open_dataset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"VHM0"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swh_avg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values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n" sz="90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swh_avg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B5CEA8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date_str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strftime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"%Y-%m-</a:t>
            </a:r>
            <a:r>
              <a:rPr b="1" lang="en" sz="90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%d</a:t>
            </a:r>
            <a:r>
              <a:rPr b="1" lang="en" sz="9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900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dates_gt1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append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date_str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swh_gt1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append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swh_avg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900">
              <a:solidFill>
                <a:srgbClr val="CC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swh_array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swh_gt1</a:t>
            </a:r>
            <a:endParaRPr b="1" sz="900">
              <a:solidFill>
                <a:srgbClr val="9CDCF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swh_dates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900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dates_gt1</a:t>
            </a:r>
            <a:endParaRPr b="1" sz="900">
              <a:solidFill>
                <a:srgbClr val="9CDCF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rgbClr val="C586C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1" name="Google Shape;171;p22"/>
          <p:cNvSpPr txBox="1"/>
          <p:nvPr>
            <p:ph idx="1" type="subTitle"/>
          </p:nvPr>
        </p:nvSpPr>
        <p:spPr>
          <a:xfrm>
            <a:off x="4692600" y="1164825"/>
            <a:ext cx="42228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F. STORE PERIOD AND WAVE DIRECTION FOR THOSE DATES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 flipH="1" rot="10800000">
            <a:off x="217200" y="1835100"/>
            <a:ext cx="8694600" cy="3079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217200" y="1176825"/>
            <a:ext cx="8698200" cy="69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9D9"/>
          </a:solidFill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 txBox="1"/>
          <p:nvPr>
            <p:ph idx="1" type="subTitle"/>
          </p:nvPr>
        </p:nvSpPr>
        <p:spPr>
          <a:xfrm>
            <a:off x="215400" y="1296075"/>
            <a:ext cx="86982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7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EXAMPLE - DAYS ELIGIBLE FOR WAVE KINEMATICS BATHYMETRY</a:t>
            </a:r>
            <a:endParaRPr b="1"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217200" y="228600"/>
            <a:ext cx="8698200" cy="6903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rgbClr val="434343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 txBox="1"/>
          <p:nvPr>
            <p:ph type="ctrTitle"/>
          </p:nvPr>
        </p:nvSpPr>
        <p:spPr>
          <a:xfrm>
            <a:off x="345450" y="301350"/>
            <a:ext cx="8441700" cy="5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STEP 2: LOAD DATA</a:t>
            </a:r>
            <a:endParaRPr b="1"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1" name="Google Shape;181;p23" title="ehukai_sw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013" y="1960177"/>
            <a:ext cx="7180974" cy="282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